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95360" y="0"/>
            <a:ext cx="3611880" cy="6858000"/>
          </a:xfrm>
          <a:prstGeom prst="rect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646920" y="0"/>
            <a:ext cx="2542032" cy="6858000"/>
          </a:xfrm>
          <a:prstGeom prst="rect">
            <a:avLst/>
          </a:prstGeom>
          <a:solidFill>
            <a:srgbClr val="23A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44200" y="0"/>
            <a:ext cx="1444752" cy="6858000"/>
          </a:xfrm>
          <a:prstGeom prst="rect">
            <a:avLst/>
          </a:prstGeom>
          <a:solidFill>
            <a:srgbClr val="F5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8915400" cy="6858000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749808"/>
            <a:ext cx="62179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5B543"/>
                </a:solidFill>
                <a:latin typeface="Aptos"/>
              </a:defRPr>
            </a:pPr>
            <a:r>
              <a:t>JAVA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7406640" cy="23317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Hotel Booking,</a:t>
            </a:r>
          </a:p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Occupancy &amp;</a:t>
            </a:r>
          </a:p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069080"/>
            <a:ext cx="6949440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CDDAEB"/>
                </a:solidFill>
                <a:latin typeface="Aptos"/>
              </a:defRPr>
            </a:pPr>
            <a:r>
              <a:t>A practical application of Java fundamentals, OOP,</a:t>
            </a:r>
          </a:p>
          <a:p>
            <a:pPr>
              <a:spcAft>
                <a:spcPts val="500"/>
              </a:spcAft>
              <a:defRPr sz="1800" b="0">
                <a:solidFill>
                  <a:srgbClr val="CDDAEB"/>
                </a:solidFill>
                <a:latin typeface="Aptos"/>
              </a:defRPr>
            </a:pPr>
            <a:r>
              <a:t>collections, file handling and stream processing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1143000"/>
            <a:ext cx="16459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372600" y="1463040"/>
            <a:ext cx="228600" cy="256032"/>
          </a:xfrm>
          <a:prstGeom prst="rect">
            <a:avLst/>
          </a:prstGeom>
          <a:solidFill>
            <a:srgbClr val="F5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939528" y="1463040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372600" y="2121408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939528" y="2121408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372600" y="2779776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939528" y="2779776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372600" y="3438144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939528" y="3438144"/>
            <a:ext cx="228600" cy="256032"/>
          </a:xfrm>
          <a:prstGeom prst="rect">
            <a:avLst/>
          </a:prstGeom>
          <a:solidFill>
            <a:srgbClr val="F5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72600" y="4096512"/>
            <a:ext cx="228600" cy="256032"/>
          </a:xfrm>
          <a:prstGeom prst="rect">
            <a:avLst/>
          </a:prstGeom>
          <a:solidFill>
            <a:srgbClr val="F5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939528" y="4096512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418320" y="868680"/>
            <a:ext cx="16459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46920" y="1188719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213848" y="1188719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46920" y="1847087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213848" y="1847087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646920" y="2505456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213848" y="2505456"/>
            <a:ext cx="228600" cy="256032"/>
          </a:xfrm>
          <a:prstGeom prst="rect">
            <a:avLst/>
          </a:prstGeom>
          <a:solidFill>
            <a:srgbClr val="F5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46920" y="3163824"/>
            <a:ext cx="228600" cy="256032"/>
          </a:xfrm>
          <a:prstGeom prst="rect">
            <a:avLst/>
          </a:prstGeom>
          <a:solidFill>
            <a:srgbClr val="F5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213848" y="3163824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646920" y="3822191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213848" y="3822191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738360" y="1417320"/>
            <a:ext cx="14173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966960" y="1737360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533888" y="1737360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966960" y="2395728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533888" y="2395728"/>
            <a:ext cx="228600" cy="256032"/>
          </a:xfrm>
          <a:prstGeom prst="rect">
            <a:avLst/>
          </a:prstGeom>
          <a:solidFill>
            <a:srgbClr val="F5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966960" y="3054096"/>
            <a:ext cx="228600" cy="256032"/>
          </a:xfrm>
          <a:prstGeom prst="rect">
            <a:avLst/>
          </a:prstGeom>
          <a:solidFill>
            <a:srgbClr val="F5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533888" y="3054096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966960" y="3712464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533888" y="3712464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966960" y="4370831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533888" y="4370831"/>
            <a:ext cx="228600" cy="256032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" y="5989320"/>
            <a:ext cx="5029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Presented by: ____________________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6327648"/>
            <a:ext cx="4114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4C6DC"/>
                </a:solidFill>
                <a:latin typeface="Aptos"/>
              </a:defRPr>
            </a:pPr>
            <a:r>
              <a:t>Course: Java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3233E"/>
                </a:solidFill>
                <a:latin typeface="Aptos"/>
              </a:defRPr>
            </a:pPr>
            <a:r>
              <a:t>The Problem &amp;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8872"/>
            <a:ext cx="54864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23A4A0"/>
                </a:solidFill>
                <a:latin typeface="Aptos"/>
              </a:defRPr>
            </a:pPr>
            <a:r>
              <a:t>01  •  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960120" cy="50292"/>
          </a:xfrm>
          <a:prstGeom prst="rect">
            <a:avLst/>
          </a:prstGeom>
          <a:solidFill>
            <a:srgbClr val="23A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67487"/>
                </a:solidFill>
                <a:latin typeface="Aptos"/>
              </a:defRPr>
            </a:pPr>
            <a:r>
              <a:t>02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C4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31546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01952"/>
            <a:ext cx="3136392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A3442"/>
                </a:solidFill>
                <a:latin typeface="Aptos"/>
              </a:defRPr>
            </a:pPr>
            <a:r>
              <a:t>Manual room registers can lead to double bookings, slow check-ins and unclear occupancy.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73152" cy="1828800"/>
          </a:xfrm>
          <a:prstGeom prst="rect">
            <a:avLst/>
          </a:prstGeom>
          <a:solidFill>
            <a:srgbClr val="23A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490472"/>
            <a:ext cx="31546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01952"/>
            <a:ext cx="3136392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A3442"/>
                </a:solidFill>
                <a:latin typeface="Aptos"/>
              </a:defRPr>
            </a:pPr>
            <a:r>
              <a:t>A Java console application to book rooms, check availability and manage guest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73152" cy="1828800"/>
          </a:xfrm>
          <a:prstGeom prst="rect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490472"/>
            <a:ext cx="31546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The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01952"/>
            <a:ext cx="3136392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A3442"/>
                </a:solidFill>
                <a:latin typeface="Aptos"/>
              </a:defRPr>
            </a:pPr>
            <a:r>
              <a:t>Quick decisions using live room status, occupancy percentage and booking summaries.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657600"/>
            <a:ext cx="2743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3233E"/>
                </a:solidFill>
                <a:latin typeface="Aptos"/>
              </a:defRPr>
            </a:pPr>
            <a:r>
              <a:t>PROJECT GOALS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41648"/>
            <a:ext cx="10607040" cy="1920240"/>
          </a:xfrm>
          <a:prstGeom prst="rect">
            <a:avLst/>
          </a:prstGeom>
          <a:noFill/>
        </p:spPr>
        <p:txBody>
          <a:bodyPr wrap="square" lIns="109728" tIns="73152" rIns="73152" bIns="36576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A3442"/>
                </a:solidFill>
                <a:latin typeface="Aptos"/>
              </a:defRPr>
            </a:pPr>
            <a:r>
              <a:t>•  Prevent booking a room that is already occupied.</a:t>
            </a:r>
          </a:p>
          <a:p>
            <a:pPr>
              <a:spcAft>
                <a:spcPts val="1100"/>
              </a:spcAft>
              <a:defRPr sz="1700">
                <a:solidFill>
                  <a:srgbClr val="2A3442"/>
                </a:solidFill>
                <a:latin typeface="Aptos"/>
              </a:defRPr>
            </a:pPr>
            <a:r>
              <a:t>•  Calculate available rooms and occupancy rate.</a:t>
            </a:r>
          </a:p>
          <a:p>
            <a:pPr>
              <a:spcAft>
                <a:spcPts val="1100"/>
              </a:spcAft>
              <a:defRPr sz="1700">
                <a:solidFill>
                  <a:srgbClr val="2A3442"/>
                </a:solidFill>
                <a:latin typeface="Aptos"/>
              </a:defRPr>
            </a:pPr>
            <a:r>
              <a:t>•  Store and review booking records.</a:t>
            </a:r>
          </a:p>
          <a:p>
            <a:pPr>
              <a:spcAft>
                <a:spcPts val="1100"/>
              </a:spcAft>
              <a:defRPr sz="1700">
                <a:solidFill>
                  <a:srgbClr val="2A3442"/>
                </a:solidFill>
                <a:latin typeface="Aptos"/>
              </a:defRPr>
            </a:pPr>
            <a:r>
              <a:t>•  Keep the design modular, readable and easy to extend.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3233E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8872"/>
            <a:ext cx="54864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23A4A0"/>
                </a:solidFill>
                <a:latin typeface="Aptos"/>
              </a:defRPr>
            </a:pPr>
            <a:r>
              <a:t>02  • 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960120" cy="50292"/>
          </a:xfrm>
          <a:prstGeom prst="rect">
            <a:avLst/>
          </a:prstGeom>
          <a:solidFill>
            <a:srgbClr val="23A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67487"/>
                </a:solidFill>
                <a:latin typeface="Aptos"/>
              </a:defRPr>
            </a:pPr>
            <a:r>
              <a:t>03  /  10</a:t>
            </a:r>
          </a:p>
        </p:txBody>
      </p:sp>
      <p:sp>
        <p:nvSpPr>
          <p:cNvPr id="6" name="Oval 5"/>
          <p:cNvSpPr/>
          <p:nvPr/>
        </p:nvSpPr>
        <p:spPr>
          <a:xfrm>
            <a:off x="1325880" y="1508760"/>
            <a:ext cx="685800" cy="685800"/>
          </a:xfrm>
          <a:prstGeom prst="ellipse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1700784"/>
            <a:ext cx="685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2316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423160"/>
            <a:ext cx="73152" cy="1508760"/>
          </a:xfrm>
          <a:prstGeom prst="rect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587752"/>
            <a:ext cx="19659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Enter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99232"/>
            <a:ext cx="1947672" cy="82295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Guest name, room number and nights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682496"/>
            <a:ext cx="3840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6674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4178808" y="1508760"/>
            <a:ext cx="685800" cy="685800"/>
          </a:xfrm>
          <a:prstGeom prst="ellipse">
            <a:avLst/>
          </a:prstGeom>
          <a:solidFill>
            <a:srgbClr val="23A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78808" y="1700784"/>
            <a:ext cx="685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38728" y="242316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38728" y="2423160"/>
            <a:ext cx="73152" cy="1508760"/>
          </a:xfrm>
          <a:prstGeom prst="rect">
            <a:avLst/>
          </a:prstGeom>
          <a:solidFill>
            <a:srgbClr val="23A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39896" y="2587752"/>
            <a:ext cx="19659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Check room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9896" y="2999232"/>
            <a:ext cx="1947672" cy="82295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Validate range and availability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1682496"/>
            <a:ext cx="3840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6674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7031736" y="1508760"/>
            <a:ext cx="685800" cy="685800"/>
          </a:xfrm>
          <a:prstGeom prst="ellipse">
            <a:avLst/>
          </a:prstGeom>
          <a:solidFill>
            <a:srgbClr val="F5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31736" y="1700784"/>
            <a:ext cx="685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91656" y="242316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91656" y="2423160"/>
            <a:ext cx="73152" cy="1508760"/>
          </a:xfrm>
          <a:prstGeom prst="rect">
            <a:avLst/>
          </a:prstGeom>
          <a:solidFill>
            <a:srgbClr val="F5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92824" y="2587752"/>
            <a:ext cx="19659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Book / cancel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2824" y="2999232"/>
            <a:ext cx="1947672" cy="82295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Update room status and booking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816" y="1682496"/>
            <a:ext cx="3840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6674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Oval 26"/>
          <p:cNvSpPr/>
          <p:nvPr/>
        </p:nvSpPr>
        <p:spPr>
          <a:xfrm>
            <a:off x="9884663" y="1508760"/>
            <a:ext cx="685800" cy="685800"/>
          </a:xfrm>
          <a:prstGeom prst="ellipse">
            <a:avLst/>
          </a:prstGeom>
          <a:solidFill>
            <a:srgbClr val="2B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84663" y="1700784"/>
            <a:ext cx="685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44584" y="242316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244584" y="2423160"/>
            <a:ext cx="73152" cy="1508760"/>
          </a:xfrm>
          <a:prstGeom prst="rect">
            <a:avLst/>
          </a:prstGeom>
          <a:solidFill>
            <a:srgbClr val="2B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45752" y="2587752"/>
            <a:ext cx="19659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View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5752" y="2999232"/>
            <a:ext cx="1947672" cy="82295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Show occupied, available and occupancy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663440"/>
            <a:ext cx="1042416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13233E"/>
                </a:solidFill>
                <a:latin typeface="Aptos"/>
              </a:defRPr>
            </a:pPr>
            <a:r>
              <a:t>Example: 7 occupied rooms out of 10 total rooms = 70% occupancy.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486400"/>
            <a:ext cx="102412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667487"/>
                </a:solidFill>
                <a:latin typeface="Aptos"/>
              </a:defRPr>
            </a:pPr>
            <a:r>
              <a:t>A real deployment would also validate dates, guest details and payment 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3233E"/>
                </a:solidFill>
                <a:latin typeface="Aptos"/>
              </a:defRPr>
            </a:pPr>
            <a:r>
              <a:t>Design: Classes, Data &amp;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8872"/>
            <a:ext cx="54864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23A4A0"/>
                </a:solidFill>
                <a:latin typeface="Aptos"/>
              </a:defRPr>
            </a:pPr>
            <a:r>
              <a:t>03  •  OBJECT-ORIENTED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960120" cy="50292"/>
          </a:xfrm>
          <a:prstGeom prst="rect">
            <a:avLst/>
          </a:prstGeom>
          <a:solidFill>
            <a:srgbClr val="23A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67487"/>
                </a:solidFill>
                <a:latin typeface="Aptos"/>
              </a:defRPr>
            </a:pPr>
            <a:r>
              <a:t>04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2057400"/>
          </a:xfrm>
          <a:prstGeom prst="rect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490472"/>
            <a:ext cx="3063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Room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01952"/>
            <a:ext cx="3044952" cy="1371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A3442"/>
                </a:solidFill>
                <a:latin typeface="Aptos"/>
              </a:defRPr>
            </a:pPr>
            <a:r>
              <a:t>Fields: roomNumber, type, price, occupied</a:t>
            </a:r>
          </a:p>
          <a:p>
            <a:pPr>
              <a:spcAft>
                <a:spcPts val="500"/>
              </a:spcAft>
              <a:defRPr sz="1500" b="0">
                <a:solidFill>
                  <a:srgbClr val="2A3442"/>
                </a:solidFill>
                <a:latin typeface="Aptos"/>
              </a:defRPr>
            </a:pPr>
            <a:r>
              <a:t>Methods: book(), checkout(), toString()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73152" cy="2057400"/>
          </a:xfrm>
          <a:prstGeom prst="rect">
            <a:avLst/>
          </a:prstGeom>
          <a:solidFill>
            <a:srgbClr val="23A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490472"/>
            <a:ext cx="3063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Booking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01952"/>
            <a:ext cx="3044952" cy="1371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A3442"/>
                </a:solidFill>
                <a:latin typeface="Aptos"/>
              </a:defRPr>
            </a:pPr>
            <a:r>
              <a:t>Fields: guestName, roomNumber, nights</a:t>
            </a:r>
          </a:p>
          <a:p>
            <a:pPr>
              <a:spcAft>
                <a:spcPts val="500"/>
              </a:spcAft>
              <a:defRPr sz="1500" b="0">
                <a:solidFill>
                  <a:srgbClr val="2A3442"/>
                </a:solidFill>
                <a:latin typeface="Aptos"/>
              </a:defRPr>
            </a:pPr>
            <a:r>
              <a:t>Methods: calculateBill(), validate()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73152" cy="2057400"/>
          </a:xfrm>
          <a:prstGeom prst="rect">
            <a:avLst/>
          </a:prstGeom>
          <a:solidFill>
            <a:srgbClr val="F5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490472"/>
            <a:ext cx="3063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HotelManager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01952"/>
            <a:ext cx="3044952" cy="1371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A3442"/>
                </a:solidFill>
                <a:latin typeface="Aptos"/>
              </a:defRPr>
            </a:pPr>
            <a:r>
              <a:t>Stores rooms and bookings</a:t>
            </a:r>
          </a:p>
          <a:p>
            <a:pPr>
              <a:spcAft>
                <a:spcPts val="500"/>
              </a:spcAft>
              <a:defRPr sz="1500" b="0">
                <a:solidFill>
                  <a:srgbClr val="2A3442"/>
                </a:solidFill>
                <a:latin typeface="Aptos"/>
              </a:defRPr>
            </a:pPr>
            <a:r>
              <a:t>Methods: findRoom(), showOccupancy(), save()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94760"/>
            <a:ext cx="3657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3233E"/>
                </a:solidFill>
                <a:latin typeface="Aptos"/>
              </a:defRPr>
            </a:pPr>
            <a:r>
              <a:t>OOP PRINCIPLES USED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60520"/>
            <a:ext cx="10789920" cy="1828800"/>
          </a:xfrm>
          <a:prstGeom prst="rect">
            <a:avLst/>
          </a:prstGeom>
          <a:noFill/>
        </p:spPr>
        <p:txBody>
          <a:bodyPr wrap="square" lIns="109728" tIns="73152" rIns="73152" bIns="36576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A3442"/>
                </a:solidFill>
                <a:latin typeface="Aptos"/>
              </a:defRPr>
            </a:pPr>
            <a:r>
              <a:t>•  Encapsulation: private fields protect room and guest data.</a:t>
            </a:r>
          </a:p>
          <a:p>
            <a:pPr>
              <a:spcAft>
                <a:spcPts val="1100"/>
              </a:spcAft>
              <a:defRPr sz="1600">
                <a:solidFill>
                  <a:srgbClr val="2A3442"/>
                </a:solidFill>
                <a:latin typeface="Aptos"/>
              </a:defRPr>
            </a:pPr>
            <a:r>
              <a:t>•  Constructors: initialize each Room or Booking object.</a:t>
            </a:r>
          </a:p>
          <a:p>
            <a:pPr>
              <a:spcAft>
                <a:spcPts val="1100"/>
              </a:spcAft>
              <a:defRPr sz="1600">
                <a:solidFill>
                  <a:srgbClr val="2A3442"/>
                </a:solidFill>
                <a:latin typeface="Aptos"/>
              </a:defRPr>
            </a:pPr>
            <a:r>
              <a:t>•  Methods: split the program into small reusable tasks.</a:t>
            </a:r>
          </a:p>
          <a:p>
            <a:pPr>
              <a:spcAft>
                <a:spcPts val="1100"/>
              </a:spcAft>
              <a:defRPr sz="1600">
                <a:solidFill>
                  <a:srgbClr val="2A3442"/>
                </a:solidFill>
                <a:latin typeface="Aptos"/>
              </a:defRPr>
            </a:pPr>
            <a:r>
              <a:t>•  Interfaces / inheritance can be added for different room types or payment methods.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3233E"/>
                </a:solidFill>
                <a:latin typeface="Aptos"/>
              </a:defRPr>
            </a:pPr>
            <a:r>
              <a:t>Sample Code 1 — Room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8872"/>
            <a:ext cx="54864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23A4A0"/>
                </a:solidFill>
                <a:latin typeface="Aptos"/>
              </a:defRPr>
            </a:pPr>
            <a:r>
              <a:t>04  •  JAVA + 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960120" cy="50292"/>
          </a:xfrm>
          <a:prstGeom prst="rect">
            <a:avLst/>
          </a:prstGeom>
          <a:solidFill>
            <a:srgbClr val="23A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67487"/>
                </a:solidFill>
                <a:latin typeface="Aptos"/>
              </a:defRPr>
            </a:pPr>
            <a:r>
              <a:t>05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6903720" cy="5074920"/>
          </a:xfrm>
          <a:prstGeom prst="roundRect">
            <a:avLst/>
          </a:prstGeom>
          <a:solidFill>
            <a:srgbClr val="151D2B"/>
          </a:solidFill>
          <a:ln>
            <a:solidFill>
              <a:srgbClr val="15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26464"/>
            <a:ext cx="6574536" cy="4846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r>
              <a:t>class Room {</a:t>
            </a:r>
          </a:p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r>
              <a:t>    private int roomNumber;</a:t>
            </a:r>
          </a:p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r>
              <a:t>    private String type;</a:t>
            </a:r>
          </a:p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r>
              <a:t>    private double price;</a:t>
            </a:r>
          </a:p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r>
              <a:t>    private boolean occupied;</a:t>
            </a:r>
          </a:p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r>
              <a:t>    Room(int roomNumber, String type, double price) {</a:t>
            </a:r>
          </a:p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r>
              <a:t>        this.roomNumber = roomNumber;</a:t>
            </a:r>
          </a:p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r>
              <a:t>        this.type = type;</a:t>
            </a:r>
          </a:p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r>
              <a:t>        this.price = price;</a:t>
            </a:r>
          </a:p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r>
              <a:t>        this.occupied = false;</a:t>
            </a:r>
          </a:p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r>
              <a:t>    boolean book() {</a:t>
            </a:r>
          </a:p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r>
              <a:t>        if (occupied) return false;</a:t>
            </a:r>
          </a:p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r>
              <a:t>        occupied = true;</a:t>
            </a:r>
          </a:p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r>
              <a:t>        return true;</a:t>
            </a:r>
          </a:p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r>
              <a:t>    void checkout() { occupied = false; }</a:t>
            </a:r>
          </a:p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r>
              <a:t>    boolean isOccupied() { return occupied; }</a:t>
            </a:r>
          </a:p>
          <a:p>
            <a:pPr>
              <a:spcAft>
                <a:spcPts val="100"/>
              </a:spcAft>
              <a:defRPr sz="1300">
                <a:solidFill>
                  <a:srgbClr val="DEE8F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41732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09560" y="1417320"/>
            <a:ext cx="73152" cy="1325880"/>
          </a:xfrm>
          <a:prstGeom prst="rect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8" y="1581912"/>
            <a:ext cx="31546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Constructor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0728" y="1993392"/>
            <a:ext cx="3136392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Sets initial values when a Room object is created.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292608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09560" y="2926080"/>
            <a:ext cx="73152" cy="1325880"/>
          </a:xfrm>
          <a:prstGeom prst="rect">
            <a:avLst/>
          </a:prstGeom>
          <a:solidFill>
            <a:srgbClr val="23A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10728" y="3090672"/>
            <a:ext cx="31546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Encapsulation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8" y="3502152"/>
            <a:ext cx="3136392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Private fields are accessed through methods.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443484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09560" y="4434840"/>
            <a:ext cx="73152" cy="1325880"/>
          </a:xfrm>
          <a:prstGeom prst="rect">
            <a:avLst/>
          </a:prstGeom>
          <a:solidFill>
            <a:srgbClr val="F5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10728" y="4599431"/>
            <a:ext cx="31546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Boolean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5010912"/>
            <a:ext cx="3136392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book() returns false if the room is already occupied.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3233E"/>
                </a:solidFill>
                <a:latin typeface="Aptos"/>
              </a:defRPr>
            </a:pPr>
            <a:r>
              <a:t>Sample Code 2 — Booking &amp; Occupancy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8872"/>
            <a:ext cx="54864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23A4A0"/>
                </a:solidFill>
                <a:latin typeface="Aptos"/>
              </a:defRPr>
            </a:pPr>
            <a:r>
              <a:t>05  •  CONTROL FLOW + CALCULATIONS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960120" cy="50292"/>
          </a:xfrm>
          <a:prstGeom prst="rect">
            <a:avLst/>
          </a:prstGeom>
          <a:solidFill>
            <a:srgbClr val="23A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67487"/>
                </a:solidFill>
                <a:latin typeface="Aptos"/>
              </a:defRPr>
            </a:pPr>
            <a:r>
              <a:t>06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6675120" cy="4343400"/>
          </a:xfrm>
          <a:prstGeom prst="roundRect">
            <a:avLst/>
          </a:prstGeom>
          <a:solidFill>
            <a:srgbClr val="151D2B"/>
          </a:solidFill>
          <a:ln>
            <a:solidFill>
              <a:srgbClr val="15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26464"/>
            <a:ext cx="6345936" cy="411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int totalRooms = 10;</a:t>
            </a:r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int occupiedRooms = 0;</a:t>
            </a:r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if (occupiedRooms &lt; totalRooms) {</a:t>
            </a:r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    occupiedRooms++;</a:t>
            </a:r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    System.out.println("Booking confirmed");</a:t>
            </a:r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} else {</a:t>
            </a:r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    System.out.println("No rooms available");</a:t>
            </a:r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double occupancyRate =</a:t>
            </a:r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    (occupiedRooms * 100.0) / totalRooms;</a:t>
            </a:r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System.out.printf("Occupancy: %.1f%%%n",</a:t>
            </a:r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                  occupancyRate);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417320"/>
            <a:ext cx="37490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417320"/>
            <a:ext cx="73152" cy="1143000"/>
          </a:xfrm>
          <a:prstGeom prst="rect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36408" y="1581912"/>
            <a:ext cx="33832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1993392"/>
            <a:ext cx="3364991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if–else decides whether a room can be booked.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743200"/>
            <a:ext cx="37490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2743200"/>
            <a:ext cx="73152" cy="1143000"/>
          </a:xfrm>
          <a:prstGeom prst="rect">
            <a:avLst/>
          </a:prstGeom>
          <a:solidFill>
            <a:srgbClr val="23A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36408" y="2907792"/>
            <a:ext cx="33832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Type casting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3319272"/>
            <a:ext cx="3364991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100.0 ensures decimal division, not integer division.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069080"/>
            <a:ext cx="37490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35240" y="4069080"/>
            <a:ext cx="73152" cy="1143000"/>
          </a:xfrm>
          <a:prstGeom prst="rect">
            <a:avLst/>
          </a:prstGeom>
          <a:solidFill>
            <a:srgbClr val="F5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36408" y="4233672"/>
            <a:ext cx="33832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Formatted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4645152"/>
            <a:ext cx="3364991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printf displays occupancy to one decimal place.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97880"/>
            <a:ext cx="104241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2B8C63"/>
                </a:solidFill>
                <a:latin typeface="Aptos"/>
              </a:defRPr>
            </a:pPr>
            <a:r>
              <a:t>Expected output: Booking confirmed  |  Occupancy: 10.0%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3233E"/>
                </a:solidFill>
                <a:latin typeface="Aptos"/>
              </a:defRPr>
            </a:pPr>
            <a:r>
              <a:t>Control Flow &amp; Input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8872"/>
            <a:ext cx="54864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23A4A0"/>
                </a:solidFill>
                <a:latin typeface="Aptos"/>
              </a:defRPr>
            </a:pPr>
            <a:r>
              <a:t>06  •  DECISIONS + LOOPS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960120" cy="50292"/>
          </a:xfrm>
          <a:prstGeom prst="rect">
            <a:avLst/>
          </a:prstGeom>
          <a:solidFill>
            <a:srgbClr val="23A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67487"/>
                </a:solidFill>
                <a:latin typeface="Aptos"/>
              </a:defRPr>
            </a:pPr>
            <a:r>
              <a:t>07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874519"/>
          </a:xfrm>
          <a:prstGeom prst="rect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490472"/>
            <a:ext cx="3063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01952"/>
            <a:ext cx="3044952" cy="118871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A3442"/>
                </a:solidFill>
                <a:latin typeface="Aptos"/>
              </a:defRPr>
            </a:pPr>
            <a:r>
              <a:t>if / else: room availability</a:t>
            </a:r>
          </a:p>
          <a:p>
            <a:pPr>
              <a:spcAft>
                <a:spcPts val="500"/>
              </a:spcAft>
              <a:defRPr sz="1500" b="0">
                <a:solidFill>
                  <a:srgbClr val="2A3442"/>
                </a:solidFill>
                <a:latin typeface="Aptos"/>
              </a:defRPr>
            </a:pPr>
            <a:r>
              <a:t>switch: menu options such as Book, Checkout,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73152" cy="1874519"/>
          </a:xfrm>
          <a:prstGeom prst="rect">
            <a:avLst/>
          </a:prstGeom>
          <a:solidFill>
            <a:srgbClr val="23A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490472"/>
            <a:ext cx="3063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Iteration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01952"/>
            <a:ext cx="3044952" cy="118871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A3442"/>
                </a:solidFill>
                <a:latin typeface="Aptos"/>
              </a:defRPr>
            </a:pPr>
            <a:r>
              <a:t>for: inspect every room</a:t>
            </a:r>
          </a:p>
          <a:p>
            <a:pPr>
              <a:spcAft>
                <a:spcPts val="500"/>
              </a:spcAft>
              <a:defRPr sz="1500" b="0">
                <a:solidFill>
                  <a:srgbClr val="2A3442"/>
                </a:solidFill>
                <a:latin typeface="Aptos"/>
              </a:defRPr>
            </a:pPr>
            <a:r>
              <a:t>while: keep showing the menu</a:t>
            </a:r>
          </a:p>
          <a:p>
            <a:pPr>
              <a:spcAft>
                <a:spcPts val="500"/>
              </a:spcAft>
              <a:defRPr sz="1500" b="0">
                <a:solidFill>
                  <a:srgbClr val="2A3442"/>
                </a:solidFill>
                <a:latin typeface="Aptos"/>
              </a:defRPr>
            </a:pPr>
            <a:r>
              <a:t>break / continue: control menu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73152" cy="1874519"/>
          </a:xfrm>
          <a:prstGeom prst="rect">
            <a:avLst/>
          </a:prstGeom>
          <a:solidFill>
            <a:srgbClr val="F5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490472"/>
            <a:ext cx="3063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Input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01952"/>
            <a:ext cx="3044952" cy="118871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A3442"/>
                </a:solidFill>
                <a:latin typeface="Aptos"/>
              </a:defRPr>
            </a:pPr>
            <a:r>
              <a:t>Scanner reads typed input</a:t>
            </a:r>
          </a:p>
          <a:p>
            <a:pPr>
              <a:spcAft>
                <a:spcPts val="500"/>
              </a:spcAft>
              <a:defRPr sz="1500" b="0">
                <a:solidFill>
                  <a:srgbClr val="2A3442"/>
                </a:solidFill>
                <a:latin typeface="Aptos"/>
              </a:defRPr>
            </a:pPr>
            <a:r>
              <a:t>Check room number, nights and menu choice</a:t>
            </a:r>
          </a:p>
          <a:p>
            <a:pPr>
              <a:spcAft>
                <a:spcPts val="500"/>
              </a:spcAft>
              <a:defRPr sz="1500" b="0">
                <a:solidFill>
                  <a:srgbClr val="2A3442"/>
                </a:solidFill>
                <a:latin typeface="Aptos"/>
              </a:defRPr>
            </a:pPr>
            <a:r>
              <a:t>Handle invalid input with exceptions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703320"/>
            <a:ext cx="2743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Simple menu example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096512"/>
            <a:ext cx="6492240" cy="1691640"/>
          </a:xfrm>
          <a:prstGeom prst="roundRect">
            <a:avLst/>
          </a:prstGeom>
          <a:solidFill>
            <a:srgbClr val="151D2B"/>
          </a:solidFill>
          <a:ln>
            <a:solidFill>
              <a:srgbClr val="15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224528"/>
            <a:ext cx="6163055" cy="146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switch (choice) {</a:t>
            </a:r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    case 1 -&gt; bookRoom();</a:t>
            </a:r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    case 2 -&gt; checkoutRoom();</a:t>
            </a:r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    case 3 -&gt; showOccupancy();</a:t>
            </a:r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    default -&gt; System.out.println("Invalid choice");</a:t>
            </a:r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4251960"/>
            <a:ext cx="3474720" cy="10972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A3442"/>
                </a:solidFill>
                <a:latin typeface="Aptos"/>
              </a:defRPr>
            </a:pPr>
            <a:r>
              <a:t>Tip: use a loop around the menu so the user can perform several actions before exiting.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3233E"/>
                </a:solidFill>
                <a:latin typeface="Aptos"/>
              </a:defRPr>
            </a:pPr>
            <a:r>
              <a:t>Collections, Files &amp;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8872"/>
            <a:ext cx="54864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23A4A0"/>
                </a:solidFill>
                <a:latin typeface="Aptos"/>
              </a:defRPr>
            </a:pPr>
            <a:r>
              <a:t>07  •  MODULES 5–6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960120" cy="50292"/>
          </a:xfrm>
          <a:prstGeom prst="rect">
            <a:avLst/>
          </a:prstGeom>
          <a:solidFill>
            <a:srgbClr val="23A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67487"/>
                </a:solidFill>
                <a:latin typeface="Aptos"/>
              </a:defRPr>
            </a:pPr>
            <a:r>
              <a:t>08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325880"/>
            <a:ext cx="73152" cy="1828800"/>
          </a:xfrm>
          <a:prstGeom prst="rect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490472"/>
            <a:ext cx="3200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Collections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01952"/>
            <a:ext cx="3182112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ArrayList&lt;Booking&gt; keeps bookings.</a:t>
            </a:r>
          </a:p>
          <a:p>
            <a:pPr>
              <a:spcAft>
                <a:spcPts val="5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HashMap&lt;Integer, Room&gt; finds rooms by number.</a:t>
            </a:r>
          </a:p>
          <a:p>
            <a:pPr>
              <a:spcAft>
                <a:spcPts val="5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Set can track unique guest IDs.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32588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15968" y="1325880"/>
            <a:ext cx="73152" cy="1828800"/>
          </a:xfrm>
          <a:prstGeom prst="rect">
            <a:avLst/>
          </a:prstGeom>
          <a:solidFill>
            <a:srgbClr val="23A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1490472"/>
            <a:ext cx="3200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File I/O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1901952"/>
            <a:ext cx="3182112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Files.readAllLines(Path) loads records.</a:t>
            </a:r>
          </a:p>
          <a:p>
            <a:pPr>
              <a:spcAft>
                <a:spcPts val="5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Files.write(...) saves booking summaries.</a:t>
            </a:r>
          </a:p>
          <a:p>
            <a:pPr>
              <a:spcAft>
                <a:spcPts val="5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try-with-resources closes file resources.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32588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73568" y="1325880"/>
            <a:ext cx="73152" cy="1828800"/>
          </a:xfrm>
          <a:prstGeom prst="rect">
            <a:avLst/>
          </a:prstGeom>
          <a:solidFill>
            <a:srgbClr val="F5B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1490472"/>
            <a:ext cx="3200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Streams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1901952"/>
            <a:ext cx="3182112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filter() selects occupied rooms.</a:t>
            </a:r>
          </a:p>
          <a:p>
            <a:pPr>
              <a:spcAft>
                <a:spcPts val="5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count() counts them.</a:t>
            </a:r>
          </a:p>
          <a:p>
            <a:pPr>
              <a:spcAft>
                <a:spcPts val="500"/>
              </a:spcAft>
              <a:defRPr sz="1400" b="0">
                <a:solidFill>
                  <a:srgbClr val="2A3442"/>
                </a:solidFill>
                <a:latin typeface="Aptos"/>
              </a:defRPr>
            </a:pPr>
            <a:r>
              <a:t>groupingBy() can summarize room types.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03320"/>
            <a:ext cx="6629400" cy="1508760"/>
          </a:xfrm>
          <a:prstGeom prst="roundRect">
            <a:avLst/>
          </a:prstGeom>
          <a:solidFill>
            <a:srgbClr val="151D2B"/>
          </a:solidFill>
          <a:ln>
            <a:solidFill>
              <a:srgbClr val="151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3831335"/>
            <a:ext cx="6300216" cy="1280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long occupied = rooms.stream()</a:t>
            </a:r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    .filter(Room::isOccupied)</a:t>
            </a:r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    .count();</a:t>
            </a:r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DEE8F5"/>
                </a:solidFill>
                <a:latin typeface="Consolas"/>
              </a:defRPr>
            </a:pPr>
            <a:r>
              <a:t>System.out.println("Occupied rooms: " + occupied);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3840480"/>
            <a:ext cx="342900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A3442"/>
                </a:solidFill>
                <a:latin typeface="Aptos"/>
              </a:defRPr>
            </a:pPr>
            <a:r>
              <a:t>Also relevant: String validation, equals() for text values, sorting reports, and try-catch for missing or malformed files.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3233E"/>
                </a:solidFill>
                <a:latin typeface="Aptos"/>
              </a:defRPr>
            </a:pPr>
            <a:r>
              <a:t>Dashboard &amp; Sample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8872"/>
            <a:ext cx="54864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23A4A0"/>
                </a:solidFill>
                <a:latin typeface="Aptos"/>
              </a:defRPr>
            </a:pPr>
            <a:r>
              <a:t>08  •  OCCUPANCY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87552"/>
            <a:ext cx="960120" cy="50292"/>
          </a:xfrm>
          <a:prstGeom prst="rect">
            <a:avLst/>
          </a:prstGeom>
          <a:solidFill>
            <a:srgbClr val="23A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67487"/>
                </a:solidFill>
                <a:latin typeface="Aptos"/>
              </a:defRPr>
            </a:pPr>
            <a:r>
              <a:t>09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254203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18488"/>
            <a:ext cx="2267712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667487"/>
                </a:solidFill>
                <a:latin typeface="Aptos"/>
              </a:defRPr>
            </a:pPr>
            <a:r>
              <a:t>TOTAL ROOMS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01952"/>
            <a:ext cx="2267712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700" b="1">
                <a:solidFill>
                  <a:srgbClr val="2B66B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8728" y="1417320"/>
            <a:ext cx="254203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75888" y="1618488"/>
            <a:ext cx="2267712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667487"/>
                </a:solidFill>
                <a:latin typeface="Aptos"/>
              </a:defRPr>
            </a:pPr>
            <a:r>
              <a:t>OCCUPIED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8" y="1901952"/>
            <a:ext cx="2267712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700" b="1">
                <a:solidFill>
                  <a:srgbClr val="23A4A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9088" y="1417320"/>
            <a:ext cx="254203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248" y="1618488"/>
            <a:ext cx="2267712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667487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1901952"/>
            <a:ext cx="2267712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700" b="1">
                <a:solidFill>
                  <a:srgbClr val="F5B54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99448" y="1417320"/>
            <a:ext cx="254203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36608" y="1618488"/>
            <a:ext cx="2267712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667487"/>
                </a:solidFill>
                <a:latin typeface="Aptos"/>
              </a:defRPr>
            </a:pPr>
            <a:r>
              <a:t>OCCUPANCY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6608" y="1901952"/>
            <a:ext cx="2267712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700" b="1">
                <a:solidFill>
                  <a:srgbClr val="2B8C63"/>
                </a:solidFill>
                <a:latin typeface="Aptos"/>
              </a:defRPr>
            </a:pPr>
            <a:r>
              <a:t>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246120"/>
            <a:ext cx="3657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33E"/>
                </a:solidFill>
                <a:latin typeface="Aptos"/>
              </a:defRPr>
            </a:pPr>
            <a:r>
              <a:t>Example room status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49808" y="3657600"/>
          <a:ext cx="6492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Room</a:t>
                      </a:r>
                    </a:p>
                  </a:txBody>
                  <a:tcPr marL="109728" marR="73152">
                    <a:solidFill>
                      <a:srgbClr val="13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Type</a:t>
                      </a:r>
                    </a:p>
                  </a:txBody>
                  <a:tcPr marL="109728" marR="73152">
                    <a:solidFill>
                      <a:srgbClr val="13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109728" marR="73152">
                    <a:solidFill>
                      <a:srgbClr val="1323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101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Standard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Occupied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102</a:t>
                      </a:r>
                    </a:p>
                  </a:txBody>
                  <a:tcPr marL="109728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Deluxe</a:t>
                      </a:r>
                    </a:p>
                  </a:txBody>
                  <a:tcPr marL="109728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 marL="109728" marR="73152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103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Standard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Occupied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104</a:t>
                      </a:r>
                    </a:p>
                  </a:txBody>
                  <a:tcPr marL="109728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Suite</a:t>
                      </a:r>
                    </a:p>
                  </a:txBody>
                  <a:tcPr marL="109728" marR="7315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2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 marL="109728" marR="73152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726679" y="3703320"/>
            <a:ext cx="352044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3233E"/>
                </a:solidFill>
                <a:latin typeface="Aptos"/>
              </a:defRPr>
            </a:pPr>
            <a:r>
              <a:t>Occupancy rate = (occupied rooms ÷ total rooms) × 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709160"/>
            <a:ext cx="352044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2B8C63"/>
                </a:solidFill>
                <a:latin typeface="Aptos"/>
              </a:defRPr>
            </a:pPr>
            <a:r>
              <a:t>(7 ÷ 10) × 100 = 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5303520"/>
            <a:ext cx="347472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67487"/>
                </a:solidFill>
                <a:latin typeface="Aptos"/>
              </a:defRPr>
            </a:pPr>
            <a:r>
              <a:t>A useful manager view for planning availability and room turnover.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54110" y="492758"/>
            <a:ext cx="4572000" cy="6647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5B543"/>
                </a:solidFill>
                <a:latin typeface="Aptos"/>
              </a:defRPr>
            </a:pPr>
            <a:r>
              <a:rPr lang="en-US" sz="3600" dirty="0"/>
              <a:t>GITHUB LINK :-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777240" y="997535"/>
            <a:ext cx="3840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3A4A0"/>
                </a:solidFill>
                <a:latin typeface="Aptos"/>
              </a:defRPr>
            </a:pPr>
            <a:r>
              <a:t>What we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2123" y="1828800"/>
            <a:ext cx="6583680" cy="2377440"/>
          </a:xfrm>
          <a:prstGeom prst="rect">
            <a:avLst/>
          </a:prstGeom>
          <a:noFill/>
        </p:spPr>
        <p:txBody>
          <a:bodyPr wrap="square" lIns="109728" tIns="73152" rIns="73152" bIns="36576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Core Java: variables, operators, input and control flow.</a:t>
            </a:r>
          </a:p>
          <a:p>
            <a:pPr>
              <a:spcAft>
                <a:spcPts val="11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OOP: classes, objects, constructors and encapsulation.</a:t>
            </a:r>
          </a:p>
          <a:p>
            <a:pPr>
              <a:spcAft>
                <a:spcPts val="11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Data handling: arrays / collections, strings, files and streams.</a:t>
            </a:r>
          </a:p>
          <a:p>
            <a:pPr>
              <a:spcAft>
                <a:spcPts val="11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Reliable behavior: validation and exception handling.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097280"/>
            <a:ext cx="3429000" cy="4480560"/>
          </a:xfrm>
          <a:prstGeom prst="roundRect">
            <a:avLst/>
          </a:prstGeom>
          <a:solidFill>
            <a:srgbClr val="1F3553"/>
          </a:solidFill>
          <a:ln>
            <a:solidFill>
              <a:srgbClr val="3B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https://github.com/rachuriharshini/KLH-FED-SECTION16-PSPJTEAM18-new.git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3973963" y="4909566"/>
            <a:ext cx="2926080" cy="7879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 sz="4400" dirty="0"/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00800"/>
            <a:ext cx="73152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FC1D8"/>
                </a:solidFill>
                <a:latin typeface="Aptos"/>
              </a:defRPr>
            </a:pPr>
            <a:r>
              <a:t>Hotel Booking, Occupancy &amp; Management System  •  Java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1021</Words>
  <Application>Microsoft Office PowerPoint</Application>
  <PresentationFormat>Widescreen</PresentationFormat>
  <Paragraphs>197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keywords/>
  <dc:description>generated using python-pptx</dc:description>
  <cp:lastModifiedBy>LPT-Hankers</cp:lastModifiedBy>
  <cp:revision>3</cp:revision>
  <dcterms:created xsi:type="dcterms:W3CDTF">2013-01-27T09:14:16Z</dcterms:created>
  <dcterms:modified xsi:type="dcterms:W3CDTF">2026-10-16T08:15:45Z</dcterms:modified>
  <cp:category/>
</cp:coreProperties>
</file>